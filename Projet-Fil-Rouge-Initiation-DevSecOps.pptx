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embeddedFontLst>
    <p:embeddedFont>
      <p:font typeface="Roboto Slab"/>
      <p:regular r:id="rId15"/>
    </p:embeddedFont>
    <p:embeddedFont>
      <p:font typeface="Roboto Slab Bold"/>
      <p:regular r:id="rId16"/>
    </p:embeddedFont>
    <p:embeddedFont>
      <p:font typeface="Roboto"/>
      <p:regular r:id="rId17"/>
    </p:embeddedFont>
    <p:embeddedFont>
      <p:font typeface="Roboto Bold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sv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svg"/><Relationship Id="rId16" Type="http://schemas.openxmlformats.org/officeDocument/2006/relationships/slideLayout" Target="../slideLayouts/slideLayout3.xml"/><Relationship Id="rId1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6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51435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0519" y="1917576"/>
            <a:ext cx="696701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Projet Fil Rouge – Initiation DevSecOps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1410519" y="2573164"/>
            <a:ext cx="76945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Une introduction pratique aux outils essentiels du développement sécurisé et de la cybersécurité.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1410519" y="2959447"/>
            <a:ext cx="1584127" cy="266402"/>
          </a:xfrm>
          <a:prstGeom prst="roundRect">
            <a:avLst>
              <a:gd name="adj" fmla="val 6386"/>
            </a:avLst>
          </a:prstGeom>
          <a:solidFill>
            <a:srgbClr val="D7DFF4"/>
          </a:solidFill>
          <a:ln/>
        </p:spPr>
      </p:sp>
      <p:sp>
        <p:nvSpPr>
          <p:cNvPr id="7" name="Text 4"/>
          <p:cNvSpPr/>
          <p:nvPr/>
        </p:nvSpPr>
        <p:spPr>
          <a:xfrm>
            <a:off x="1495574" y="3001938"/>
            <a:ext cx="1871216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PRÉSENTATION DE PROJET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7154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Objectif du projet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173659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 projet fil rouge a pour but de découvrir, installer et manipuler les outils fondamentaux utilisés en développement et en cybersécurité.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786756"/>
            <a:ext cx="2622724" cy="1383878"/>
          </a:xfrm>
          <a:prstGeom prst="roundRect">
            <a:avLst>
              <a:gd name="adj" fmla="val 1537"/>
            </a:avLst>
          </a:prstGeom>
          <a:solidFill>
            <a:srgbClr val="E9ECF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1928515"/>
            <a:ext cx="425276" cy="425276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4856" y="2045419"/>
            <a:ext cx="191319" cy="1913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7877" y="249555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Git &amp; GitHub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637877" y="2802062"/>
            <a:ext cx="23392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Versionning et collaboration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3260601" y="1786756"/>
            <a:ext cx="2622724" cy="1383878"/>
          </a:xfrm>
          <a:prstGeom prst="roundRect">
            <a:avLst>
              <a:gd name="adj" fmla="val 1537"/>
            </a:avLst>
          </a:prstGeom>
          <a:solidFill>
            <a:srgbClr val="E9ECF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2360" y="1928515"/>
            <a:ext cx="425276" cy="425276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19339" y="2045419"/>
            <a:ext cx="191319" cy="19131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402360" y="249555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GitHub Desktop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3402360" y="2802062"/>
            <a:ext cx="23392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Interface graphique Git</a:t>
            </a:r>
            <a:endParaRPr lang="en-US" sz="1100" dirty="0"/>
          </a:p>
        </p:txBody>
      </p:sp>
      <p:sp>
        <p:nvSpPr>
          <p:cNvPr id="14" name="Shape 8"/>
          <p:cNvSpPr/>
          <p:nvPr/>
        </p:nvSpPr>
        <p:spPr>
          <a:xfrm>
            <a:off x="6025083" y="1786756"/>
            <a:ext cx="2622724" cy="1383878"/>
          </a:xfrm>
          <a:prstGeom prst="roundRect">
            <a:avLst>
              <a:gd name="adj" fmla="val 1537"/>
            </a:avLst>
          </a:prstGeom>
          <a:solidFill>
            <a:srgbClr val="E9ECF2"/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6842" y="1928515"/>
            <a:ext cx="425276" cy="425276"/>
          </a:xfrm>
          <a:prstGeom prst="rect">
            <a:avLst/>
          </a:prstGeom>
        </p:spPr>
      </p:pic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83821" y="2045419"/>
            <a:ext cx="191319" cy="191319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166842" y="249555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Docker</a:t>
            </a:r>
            <a:endParaRPr lang="en-US" sz="1350" dirty="0"/>
          </a:p>
        </p:txBody>
      </p:sp>
      <p:sp>
        <p:nvSpPr>
          <p:cNvPr id="18" name="Text 10"/>
          <p:cNvSpPr/>
          <p:nvPr/>
        </p:nvSpPr>
        <p:spPr>
          <a:xfrm>
            <a:off x="6166842" y="2802062"/>
            <a:ext cx="23392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Conteneurisation d'applications</a:t>
            </a:r>
            <a:endParaRPr lang="en-US" sz="1100" dirty="0"/>
          </a:p>
        </p:txBody>
      </p:sp>
      <p:sp>
        <p:nvSpPr>
          <p:cNvPr id="19" name="Shape 11"/>
          <p:cNvSpPr/>
          <p:nvPr/>
        </p:nvSpPr>
        <p:spPr>
          <a:xfrm>
            <a:off x="496119" y="3312393"/>
            <a:ext cx="4004965" cy="1383878"/>
          </a:xfrm>
          <a:prstGeom prst="roundRect">
            <a:avLst>
              <a:gd name="adj" fmla="val 1537"/>
            </a:avLst>
          </a:prstGeom>
          <a:solidFill>
            <a:srgbClr val="E9ECF2"/>
          </a:solidFill>
          <a:ln/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7877" y="3454152"/>
            <a:ext cx="425276" cy="425276"/>
          </a:xfrm>
          <a:prstGeom prst="rect">
            <a:avLst/>
          </a:prstGeom>
        </p:spPr>
      </p:pic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4856" y="3571056"/>
            <a:ext cx="191319" cy="191319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637877" y="402118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DVWA</a:t>
            </a:r>
            <a:endParaRPr lang="en-US" sz="1350" dirty="0"/>
          </a:p>
        </p:txBody>
      </p:sp>
      <p:sp>
        <p:nvSpPr>
          <p:cNvPr id="23" name="Text 13"/>
          <p:cNvSpPr/>
          <p:nvPr/>
        </p:nvSpPr>
        <p:spPr>
          <a:xfrm>
            <a:off x="637877" y="4327699"/>
            <a:ext cx="3721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Environnement de test vulnérable</a:t>
            </a:r>
            <a:endParaRPr lang="en-US" sz="1100" dirty="0"/>
          </a:p>
        </p:txBody>
      </p:sp>
      <p:sp>
        <p:nvSpPr>
          <p:cNvPr id="24" name="Shape 14"/>
          <p:cNvSpPr/>
          <p:nvPr/>
        </p:nvSpPr>
        <p:spPr>
          <a:xfrm>
            <a:off x="4642842" y="3312393"/>
            <a:ext cx="4004965" cy="1383878"/>
          </a:xfrm>
          <a:prstGeom prst="roundRect">
            <a:avLst>
              <a:gd name="adj" fmla="val 1537"/>
            </a:avLst>
          </a:prstGeom>
          <a:solidFill>
            <a:srgbClr val="E9ECF2"/>
          </a:solidFill>
          <a:ln/>
        </p:spPr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84601" y="3454152"/>
            <a:ext cx="425276" cy="425276"/>
          </a:xfrm>
          <a:prstGeom prst="rect">
            <a:avLst/>
          </a:prstGeom>
        </p:spPr>
      </p:pic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901580" y="3571056"/>
            <a:ext cx="191319" cy="191319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4784601" y="402118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SQL Injection</a:t>
            </a:r>
            <a:endParaRPr lang="en-US" sz="1350" dirty="0"/>
          </a:p>
        </p:txBody>
      </p:sp>
      <p:sp>
        <p:nvSpPr>
          <p:cNvPr id="28" name="Text 16"/>
          <p:cNvSpPr/>
          <p:nvPr/>
        </p:nvSpPr>
        <p:spPr>
          <a:xfrm>
            <a:off x="4784601" y="4327699"/>
            <a:ext cx="3721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Exploitation d'une faille web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16868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Git et GitHub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814215"/>
            <a:ext cx="232283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Ce que nous avons fait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177430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Clonage du dépôt depuis GitHub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Modification du fichier README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Commit des changements locaux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Push vers le dépôt distant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49701" y="1814215"/>
            <a:ext cx="225340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Commandes utilisées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749701" y="2195140"/>
            <a:ext cx="3902943" cy="1190774"/>
          </a:xfrm>
          <a:prstGeom prst="roundRect">
            <a:avLst>
              <a:gd name="adj" fmla="val 1786"/>
            </a:avLst>
          </a:prstGeom>
          <a:solidFill>
            <a:srgbClr val="EEEFF1"/>
          </a:solidFill>
          <a:ln/>
        </p:spPr>
      </p:sp>
      <p:sp>
        <p:nvSpPr>
          <p:cNvPr id="7" name="Shape 5"/>
          <p:cNvSpPr/>
          <p:nvPr/>
        </p:nvSpPr>
        <p:spPr>
          <a:xfrm>
            <a:off x="4742631" y="2195140"/>
            <a:ext cx="3917082" cy="1190774"/>
          </a:xfrm>
          <a:prstGeom prst="roundRect">
            <a:avLst>
              <a:gd name="adj" fmla="val 1786"/>
            </a:avLst>
          </a:prstGeom>
          <a:solidFill>
            <a:srgbClr val="EEEFF1"/>
          </a:solidFill>
          <a:ln/>
        </p:spPr>
      </p:sp>
      <p:sp>
        <p:nvSpPr>
          <p:cNvPr id="8" name="Text 6"/>
          <p:cNvSpPr/>
          <p:nvPr/>
        </p:nvSpPr>
        <p:spPr>
          <a:xfrm>
            <a:off x="4919811" y="2336899"/>
            <a:ext cx="356272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"message"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49701" y="354538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Ces commandes constituent le flux de travail de base pour collaborer sur un projet avec Git.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5917" y="2021160"/>
            <a:ext cx="3287092" cy="110117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96119" y="573881"/>
            <a:ext cx="422128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Docker – Premiers pas</a:t>
            </a:r>
            <a:endParaRPr lang="en-US" sz="2750" dirty="0"/>
          </a:p>
        </p:txBody>
      </p:sp>
      <p:sp>
        <p:nvSpPr>
          <p:cNvPr id="5" name="Shape 1"/>
          <p:cNvSpPr/>
          <p:nvPr/>
        </p:nvSpPr>
        <p:spPr>
          <a:xfrm>
            <a:off x="496119" y="1229469"/>
            <a:ext cx="4722763" cy="1599158"/>
          </a:xfrm>
          <a:prstGeom prst="roundRect">
            <a:avLst>
              <a:gd name="adj" fmla="val 5718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069" y="1229469"/>
            <a:ext cx="76200" cy="159915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14077" y="139027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Tester l'installation</a:t>
            </a:r>
            <a:endParaRPr lang="en-US" sz="1350" dirty="0"/>
          </a:p>
        </p:txBody>
      </p:sp>
      <p:sp>
        <p:nvSpPr>
          <p:cNvPr id="8" name="Shape 3"/>
          <p:cNvSpPr/>
          <p:nvPr/>
        </p:nvSpPr>
        <p:spPr>
          <a:xfrm>
            <a:off x="714077" y="1771204"/>
            <a:ext cx="4343995" cy="510332"/>
          </a:xfrm>
          <a:prstGeom prst="roundRect">
            <a:avLst>
              <a:gd name="adj" fmla="val 4167"/>
            </a:avLst>
          </a:prstGeom>
          <a:solidFill>
            <a:srgbClr val="EEEFF1"/>
          </a:solidFill>
          <a:ln/>
        </p:spPr>
      </p:sp>
      <p:sp>
        <p:nvSpPr>
          <p:cNvPr id="9" name="Shape 4"/>
          <p:cNvSpPr/>
          <p:nvPr/>
        </p:nvSpPr>
        <p:spPr>
          <a:xfrm>
            <a:off x="707008" y="1771204"/>
            <a:ext cx="4358134" cy="510332"/>
          </a:xfrm>
          <a:prstGeom prst="roundRect">
            <a:avLst>
              <a:gd name="adj" fmla="val 4167"/>
            </a:avLst>
          </a:prstGeom>
          <a:solidFill>
            <a:srgbClr val="EEEFF1"/>
          </a:solidFill>
          <a:ln/>
        </p:spPr>
      </p:sp>
      <p:sp>
        <p:nvSpPr>
          <p:cNvPr id="10" name="Text 5"/>
          <p:cNvSpPr/>
          <p:nvPr/>
        </p:nvSpPr>
        <p:spPr>
          <a:xfrm>
            <a:off x="884188" y="1912962"/>
            <a:ext cx="400377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hello-world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714077" y="2441004"/>
            <a:ext cx="43439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Confirme que Docker est correctement installé et fonctionnel.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496119" y="2970386"/>
            <a:ext cx="4722763" cy="1599158"/>
          </a:xfrm>
          <a:prstGeom prst="roundRect">
            <a:avLst>
              <a:gd name="adj" fmla="val 5718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069" y="2970386"/>
            <a:ext cx="76200" cy="159915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14077" y="3131195"/>
            <a:ext cx="191236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Lancer un serveur web</a:t>
            </a:r>
            <a:endParaRPr lang="en-US" sz="1350" dirty="0"/>
          </a:p>
        </p:txBody>
      </p:sp>
      <p:sp>
        <p:nvSpPr>
          <p:cNvPr id="15" name="Shape 9"/>
          <p:cNvSpPr/>
          <p:nvPr/>
        </p:nvSpPr>
        <p:spPr>
          <a:xfrm>
            <a:off x="714077" y="3512121"/>
            <a:ext cx="4343995" cy="510332"/>
          </a:xfrm>
          <a:prstGeom prst="roundRect">
            <a:avLst>
              <a:gd name="adj" fmla="val 4167"/>
            </a:avLst>
          </a:prstGeom>
          <a:solidFill>
            <a:srgbClr val="EEEFF1"/>
          </a:solidFill>
          <a:ln/>
        </p:spPr>
      </p:sp>
      <p:sp>
        <p:nvSpPr>
          <p:cNvPr id="16" name="Shape 10"/>
          <p:cNvSpPr/>
          <p:nvPr/>
        </p:nvSpPr>
        <p:spPr>
          <a:xfrm>
            <a:off x="707008" y="3512121"/>
            <a:ext cx="4358134" cy="510332"/>
          </a:xfrm>
          <a:prstGeom prst="roundRect">
            <a:avLst>
              <a:gd name="adj" fmla="val 4167"/>
            </a:avLst>
          </a:prstGeom>
          <a:solidFill>
            <a:srgbClr val="EEEFF1"/>
          </a:solidFill>
          <a:ln/>
        </p:spPr>
      </p:sp>
      <p:sp>
        <p:nvSpPr>
          <p:cNvPr id="17" name="Text 11"/>
          <p:cNvSpPr/>
          <p:nvPr/>
        </p:nvSpPr>
        <p:spPr>
          <a:xfrm>
            <a:off x="884188" y="3653879"/>
            <a:ext cx="400377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-p 8080:80 nginx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714077" y="4181921"/>
            <a:ext cx="43439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Démarre un conteneur Nginx accessible sur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http://localhost:8080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396404"/>
            <a:ext cx="5277445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Manipulation des conteneurs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88379" y="1107207"/>
            <a:ext cx="862444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Une fois les conteneurs lancés, Docker offre des commandes essentielles pour les gérer et les inspecter.</a:t>
            </a:r>
            <a:endParaRPr lang="en-US" sz="1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379" y="1483147"/>
            <a:ext cx="2722364" cy="5581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7906" y="2178695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docker ps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27906" y="2479104"/>
            <a:ext cx="244331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Lister les conteneurs actifs en cours d'exécution.</a:t>
            </a:r>
            <a:endParaRPr lang="en-US" sz="10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906" y="3076501"/>
            <a:ext cx="2443311" cy="85129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7906" y="4082281"/>
            <a:ext cx="2443311" cy="525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spcAft>
                <a:spcPts val="2350"/>
              </a:spcAft>
              <a:buNone/>
            </a:pP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0744" y="1483147"/>
            <a:ext cx="2722438" cy="5581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350270" y="2178695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docker logs ID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3350270" y="2479104"/>
            <a:ext cx="244338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Afficher les journaux d'événements d'un conteneur.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0270" y="3076501"/>
            <a:ext cx="2443386" cy="17569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350270" y="3406676"/>
            <a:ext cx="2443386" cy="525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spcAft>
                <a:spcPts val="2350"/>
              </a:spcAft>
              <a:buNone/>
            </a:pPr>
            <a:endParaRPr lang="en-US" sz="10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3182" y="1483147"/>
            <a:ext cx="2722364" cy="55818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072708" y="2178695"/>
            <a:ext cx="1860798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docker exec -it ID bash</a:t>
            </a:r>
            <a:endParaRPr lang="en-US" sz="1350" dirty="0"/>
          </a:p>
        </p:txBody>
      </p:sp>
      <p:sp>
        <p:nvSpPr>
          <p:cNvPr id="16" name="Text 9"/>
          <p:cNvSpPr/>
          <p:nvPr/>
        </p:nvSpPr>
        <p:spPr>
          <a:xfrm>
            <a:off x="6072708" y="2479104"/>
            <a:ext cx="244331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Ouvrir un terminal interactif dans le conteneur.</a:t>
            </a:r>
            <a:endParaRPr lang="en-US" sz="10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2708" y="3076501"/>
            <a:ext cx="2443311" cy="926753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072708" y="4157737"/>
            <a:ext cx="244331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162" y="409426"/>
            <a:ext cx="3928765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DVWA &amp; Injection SQL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65162" y="1136154"/>
            <a:ext cx="21184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Lancement de DVWA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65162" y="1483965"/>
            <a:ext cx="2578671" cy="677763"/>
          </a:xfrm>
          <a:prstGeom prst="roundRect">
            <a:avLst>
              <a:gd name="adj" fmla="val 2941"/>
            </a:avLst>
          </a:prstGeom>
          <a:solidFill>
            <a:srgbClr val="EEEFF1"/>
          </a:solidFill>
          <a:ln/>
        </p:spPr>
      </p:sp>
      <p:sp>
        <p:nvSpPr>
          <p:cNvPr id="5" name="Shape 3"/>
          <p:cNvSpPr/>
          <p:nvPr/>
        </p:nvSpPr>
        <p:spPr>
          <a:xfrm>
            <a:off x="458539" y="1483965"/>
            <a:ext cx="2591916" cy="677763"/>
          </a:xfrm>
          <a:prstGeom prst="roundRect">
            <a:avLst>
              <a:gd name="adj" fmla="val 2941"/>
            </a:avLst>
          </a:prstGeom>
          <a:solidFill>
            <a:srgbClr val="EEEFF1"/>
          </a:solidFill>
          <a:ln/>
        </p:spPr>
      </p:sp>
      <p:sp>
        <p:nvSpPr>
          <p:cNvPr id="6" name="Text 4"/>
          <p:cNvSpPr/>
          <p:nvPr/>
        </p:nvSpPr>
        <p:spPr>
          <a:xfrm>
            <a:off x="624632" y="1616869"/>
            <a:ext cx="2259732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-p 8081:80 vulnerables/web-dvwa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5162" y="2301850"/>
            <a:ext cx="2578671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DVWA (Damn Vulnerable Web App) est une application web volontairement vulnérable, utilisée pour s'entraîner en sécurité.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5162" y="3044354"/>
            <a:ext cx="21184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Payload utilisé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5162" y="3392165"/>
            <a:ext cx="2578671" cy="471785"/>
          </a:xfrm>
          <a:prstGeom prst="roundRect">
            <a:avLst>
              <a:gd name="adj" fmla="val 4226"/>
            </a:avLst>
          </a:prstGeom>
          <a:solidFill>
            <a:srgbClr val="EEEFF1"/>
          </a:solidFill>
          <a:ln/>
        </p:spPr>
      </p:sp>
      <p:sp>
        <p:nvSpPr>
          <p:cNvPr id="10" name="Shape 8"/>
          <p:cNvSpPr/>
          <p:nvPr/>
        </p:nvSpPr>
        <p:spPr>
          <a:xfrm>
            <a:off x="458539" y="3392165"/>
            <a:ext cx="2591916" cy="471785"/>
          </a:xfrm>
          <a:prstGeom prst="roundRect">
            <a:avLst>
              <a:gd name="adj" fmla="val 4226"/>
            </a:avLst>
          </a:prstGeom>
          <a:solidFill>
            <a:srgbClr val="EEEFF1"/>
          </a:solidFill>
          <a:ln/>
        </p:spPr>
      </p:sp>
      <p:sp>
        <p:nvSpPr>
          <p:cNvPr id="11" name="Text 9"/>
          <p:cNvSpPr/>
          <p:nvPr/>
        </p:nvSpPr>
        <p:spPr>
          <a:xfrm>
            <a:off x="624632" y="3525069"/>
            <a:ext cx="2716932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1' OR '1'='1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5162" y="4004072"/>
            <a:ext cx="2578671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Cette chaîne modifie la requête SQL pour retourner </a:t>
            </a:r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tous les utilisateurs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la base de données.</a:t>
            </a:r>
            <a:endParaRPr lang="en-US" sz="10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72743" y="1534716"/>
            <a:ext cx="5310783" cy="267615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46770"/>
            <a:ext cx="3281437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Comprendre la faille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489" y="935906"/>
            <a:ext cx="3759622" cy="3759622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489" y="935906"/>
            <a:ext cx="3759622" cy="375962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14503" y="2092523"/>
            <a:ext cx="222364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Pourquoi c'est dangereux ?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4714503" y="2359000"/>
            <a:ext cx="3759622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L'injection SQL est l'une des vulnérabilités les plus critiques du web. Elle permet à un attaquant de lire, modifier ou supprimer des données sensibles.</a:t>
            </a:r>
            <a:endParaRPr lang="en-US" sz="850" dirty="0"/>
          </a:p>
        </p:txBody>
      </p:sp>
      <p:sp>
        <p:nvSpPr>
          <p:cNvPr id="7" name="Shape 3"/>
          <p:cNvSpPr/>
          <p:nvPr/>
        </p:nvSpPr>
        <p:spPr>
          <a:xfrm>
            <a:off x="4714503" y="2947318"/>
            <a:ext cx="3759622" cy="580355"/>
          </a:xfrm>
          <a:prstGeom prst="roundRect">
            <a:avLst>
              <a:gd name="adj" fmla="val 2920"/>
            </a:avLst>
          </a:prstGeom>
          <a:solidFill>
            <a:srgbClr val="B6D6FC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7463" y="3108647"/>
            <a:ext cx="141163" cy="11296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081587" y="3065487"/>
            <a:ext cx="327957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💡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Bonne pratique :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Toujours valider et échapper les entrées utilisateur, et privilégier les requêtes préparées.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32101" y="360834"/>
            <a:ext cx="3336801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Conclusion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32101" y="861120"/>
            <a:ext cx="4908798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 projet fil rouge a permis d'acquérir des compétences concrètes et fondamentales en DevSecOps.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3832101" y="1300311"/>
            <a:ext cx="4908798" cy="638026"/>
          </a:xfrm>
          <a:prstGeom prst="roundRect">
            <a:avLst>
              <a:gd name="adj" fmla="val 2708"/>
            </a:avLst>
          </a:prstGeom>
          <a:solidFill>
            <a:srgbClr val="E9ECF2"/>
          </a:solidFill>
          <a:ln/>
        </p:spPr>
      </p:sp>
      <p:sp>
        <p:nvSpPr>
          <p:cNvPr id="7" name="Text 4"/>
          <p:cNvSpPr/>
          <p:nvPr/>
        </p:nvSpPr>
        <p:spPr>
          <a:xfrm>
            <a:off x="3947220" y="1415430"/>
            <a:ext cx="1439763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🔧</a:t>
            </a:r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GitHub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947220" y="1656234"/>
            <a:ext cx="4678561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Collaborer et versionner un projet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832101" y="2031876"/>
            <a:ext cx="4908798" cy="638026"/>
          </a:xfrm>
          <a:prstGeom prst="roundRect">
            <a:avLst>
              <a:gd name="adj" fmla="val 2708"/>
            </a:avLst>
          </a:prstGeom>
          <a:solidFill>
            <a:srgbClr val="E9ECF2"/>
          </a:solidFill>
          <a:ln/>
        </p:spPr>
      </p:sp>
      <p:sp>
        <p:nvSpPr>
          <p:cNvPr id="10" name="Text 7"/>
          <p:cNvSpPr/>
          <p:nvPr/>
        </p:nvSpPr>
        <p:spPr>
          <a:xfrm>
            <a:off x="3947220" y="2146995"/>
            <a:ext cx="1439763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🐳</a:t>
            </a:r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Docker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947220" y="2387798"/>
            <a:ext cx="4678561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Créer et gérer des conteneurs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832101" y="2763441"/>
            <a:ext cx="4908798" cy="638026"/>
          </a:xfrm>
          <a:prstGeom prst="roundRect">
            <a:avLst>
              <a:gd name="adj" fmla="val 2708"/>
            </a:avLst>
          </a:prstGeom>
          <a:solidFill>
            <a:srgbClr val="E9ECF2"/>
          </a:solidFill>
          <a:ln/>
        </p:spPr>
      </p:sp>
      <p:sp>
        <p:nvSpPr>
          <p:cNvPr id="13" name="Text 10"/>
          <p:cNvSpPr/>
          <p:nvPr/>
        </p:nvSpPr>
        <p:spPr>
          <a:xfrm>
            <a:off x="3947220" y="2878559"/>
            <a:ext cx="1439763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🔓</a:t>
            </a:r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DVWA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947220" y="3119363"/>
            <a:ext cx="4678561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Expérimenter dans un environnement sécurisé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832101" y="3495005"/>
            <a:ext cx="4908798" cy="638026"/>
          </a:xfrm>
          <a:prstGeom prst="roundRect">
            <a:avLst>
              <a:gd name="adj" fmla="val 2708"/>
            </a:avLst>
          </a:prstGeom>
          <a:solidFill>
            <a:srgbClr val="E9ECF2"/>
          </a:solidFill>
          <a:ln/>
        </p:spPr>
      </p:sp>
      <p:sp>
        <p:nvSpPr>
          <p:cNvPr id="16" name="Text 13"/>
          <p:cNvSpPr/>
          <p:nvPr/>
        </p:nvSpPr>
        <p:spPr>
          <a:xfrm>
            <a:off x="3947220" y="3610124"/>
            <a:ext cx="1439763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💉</a:t>
            </a:r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SQL Injection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947220" y="3850928"/>
            <a:ext cx="4678561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Comprendre et prévenir une faille réelle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004816" y="4343474"/>
            <a:ext cx="4736083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Merci de votre attention — Ces bases constituent un premier pas essentiel vers une culture DevSecOps solide.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832101" y="4238253"/>
            <a:ext cx="14288" cy="544413"/>
          </a:xfrm>
          <a:prstGeom prst="rect">
            <a:avLst/>
          </a:prstGeom>
          <a:solidFill>
            <a:srgbClr val="3257B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2026-05-21T11:53:12Z</dcterms:created>
  <dcterms:modified xsi:type="dcterms:W3CDTF">2026-05-21T11:53:12Z</dcterms:modified>
</cp:coreProperties>
</file>